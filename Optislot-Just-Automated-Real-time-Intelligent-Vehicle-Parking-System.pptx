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Instrument Sans Semi Bold"/>
      <p:regular r:id="rId16"/>
    </p:embeddedFont>
    <p:embeddedFont>
      <p:font typeface="Instrument Sans Semi Bold"/>
      <p:regular r:id="rId17"/>
    </p:embeddedFont>
    <p:embeddedFont>
      <p:font typeface="Instrument Sans Semi Bold"/>
      <p:regular r:id="rId18"/>
    </p:embeddedFont>
    <p:embeddedFont>
      <p:font typeface="Instrument Sans Semi Bold"/>
      <p:regular r:id="rId19"/>
    </p:embeddedFont>
    <p:embeddedFont>
      <p:font typeface="Instrument Sans Medium"/>
      <p:regular r:id="rId20"/>
    </p:embeddedFont>
    <p:embeddedFont>
      <p:font typeface="Instrument Sans Medium"/>
      <p:regular r:id="rId21"/>
    </p:embeddedFont>
    <p:embeddedFont>
      <p:font typeface="Instrument Sans Medium"/>
      <p:regular r:id="rId22"/>
    </p:embeddedFont>
    <p:embeddedFont>
      <p:font typeface="Instrument Sans Medium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3890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Optislot (Just Automated Real-time Intelligent Vehicle Parking System)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55971"/>
            <a:ext cx="7556421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Smart Cities &amp; Intelligent Transportation Systems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514671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By Reshekumar V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7647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Department of Computer Science and Engineering, KPR Institute of Engineering and Technology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20979"/>
            <a:ext cx="746664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Problem: The Parking Predicament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3141583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2A2A2D">
              <a:alpha val="95000"/>
            </a:srgbClr>
          </a:solidFill>
          <a:ln w="30480">
            <a:solidFill>
              <a:srgbClr val="56565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310" y="3141583"/>
            <a:ext cx="121920" cy="17308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33988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Inefficiency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42524" y="3889296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 search time for parking causes congestion and fuel waste.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3141583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2A2A2D">
              <a:alpha val="95000"/>
            </a:srgbClr>
          </a:solidFill>
          <a:ln w="30480">
            <a:solidFill>
              <a:srgbClr val="56565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482" y="3141583"/>
            <a:ext cx="121920" cy="17308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65696" y="33988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High CAPEX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565696" y="3889296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Traditional systems need physical sensors at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every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slot (1:1 ratio).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40133" y="3141583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2A2A2D">
              <a:alpha val="95000"/>
            </a:srgbClr>
          </a:solidFill>
          <a:ln w="30480">
            <a:solidFill>
              <a:srgbClr val="56565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3141583"/>
            <a:ext cx="121920" cy="17308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988868" y="33988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Maintenance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988868" y="3889296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Decentralized hardware increases failure points.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51275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Location: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Urban centers, malls, and corporate campuses.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793790" y="57455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Importance: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Critical to reduce traffic, carbon emissions, and infrastructure costs.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24576"/>
            <a:ext cx="721352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Existing Scenario: The Status Quo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4585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Current Methods: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39672"/>
            <a:ext cx="6244709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Slot-Sensors: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Ultrasonic/magnetic loops at every parking bay.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Security guards directing traffic.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4585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Drawbacks: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039672"/>
            <a:ext cx="6244709" cy="1088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Cost: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Installing 100s of sensors is expensive.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Rigidity: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Hard to scale; requires physical cabling for every new spot.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836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Insufficiency: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Relies on "Brute Force Hardware" instead of scalable software logic.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6842" y="1272659"/>
            <a:ext cx="7308771" cy="486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Proposed Solution: Optislot's Innovation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6166842" y="2008584"/>
            <a:ext cx="7783116" cy="288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 Idea: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Centralized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Sensor Fusion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at the entry gate, removing slot-level sensors.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166842" y="2484834"/>
            <a:ext cx="194310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842" y="2792373"/>
            <a:ext cx="3808214" cy="228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66842" y="2935248"/>
            <a:ext cx="2430185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Optical Profiling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6166842" y="3338870"/>
            <a:ext cx="3808214" cy="57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Camera determines vehicle size (SUV vs. Compact).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0141625" y="2484834"/>
            <a:ext cx="194310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1625" y="2792373"/>
            <a:ext cx="3808333" cy="228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141625" y="2935248"/>
            <a:ext cx="2430185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Logic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10141625" y="3338870"/>
            <a:ext cx="3808333" cy="57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"Bin-Packing Algorithm" allocates the optimal slot.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66842" y="4228862"/>
            <a:ext cx="194310" cy="243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842" y="4516993"/>
            <a:ext cx="7783116" cy="228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66842" y="4679275"/>
            <a:ext cx="2430185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Connectivity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6166842" y="5082897"/>
            <a:ext cx="7783116" cy="288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Cloud Registry ensures access across changing networks.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6166842" y="5767388"/>
            <a:ext cx="2430185" cy="303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Differentiation:</a:t>
            </a:r>
            <a:endParaRPr lang="en-US" sz="1900" dirty="0"/>
          </a:p>
        </p:txBody>
      </p:sp>
      <p:sp>
        <p:nvSpPr>
          <p:cNvPr id="18" name="Text 12"/>
          <p:cNvSpPr/>
          <p:nvPr/>
        </p:nvSpPr>
        <p:spPr>
          <a:xfrm>
            <a:off x="6166842" y="6321028"/>
            <a:ext cx="7783116" cy="57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95% Hardware Reduction: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Replaces hundreds of sensors with one camera.</a:t>
            </a:r>
            <a:endParaRPr lang="en-US" sz="1500" dirty="0"/>
          </a:p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Software-First: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Infinite scalability without new wiring.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2483" y="472797"/>
            <a:ext cx="5264110" cy="40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System Architecture: How it Works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1161" y="1101923"/>
            <a:ext cx="7487841" cy="50656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5597" y="2928763"/>
            <a:ext cx="1363458" cy="1247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Camera → Python → MongoDB → QR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8902056" y="4562764"/>
            <a:ext cx="1578922" cy="6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Local Python server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740803" y="5252807"/>
            <a:ext cx="1891208" cy="456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Runs allocation and processing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972858" y="4562764"/>
            <a:ext cx="1930352" cy="6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MongoDB cloud registry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944799" y="5252807"/>
            <a:ext cx="1976078" cy="456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Maps dynamic IPs to static endpoints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182781" y="1558723"/>
            <a:ext cx="1510334" cy="622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Dynamic QR interface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930943" y="2248766"/>
            <a:ext cx="2003964" cy="456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50" b="1" dirty="0">
                <a:solidFill>
                  <a:srgbClr val="141415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Outputs updated QR codes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880232" y="1714606"/>
            <a:ext cx="1600400" cy="310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Camera input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764012" y="2092883"/>
            <a:ext cx="1870771" cy="456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50" b="1" dirty="0">
                <a:solidFill>
                  <a:srgbClr val="141415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Captures vehicle ID and dimensions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772483" y="6338173"/>
            <a:ext cx="2008108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Workflow: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772483" y="6759773"/>
            <a:ext cx="11085314" cy="878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Font typeface="+mj-lt"/>
              <a:buAutoNum type="arabicPeriod" startAt="1"/>
            </a:pPr>
            <a:r>
              <a:rPr lang="en-US" sz="12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Input: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Camera captures vehicle identity and dimensions.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Font typeface="+mj-lt"/>
              <a:buAutoNum type="arabicPeriod" startAt="2"/>
            </a:pPr>
            <a:r>
              <a:rPr lang="en-US" sz="12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Processing: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Local Python server runs allocation algorithms.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Font typeface="+mj-lt"/>
              <a:buAutoNum type="arabicPeriod" startAt="3"/>
            </a:pPr>
            <a:r>
              <a:rPr lang="en-US" sz="12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Cloud Registry: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MongoDB maps dynamic local IPs to static endpoints.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Font typeface="+mj-lt"/>
              <a:buAutoNum type="arabicPeriod" startAt="4"/>
            </a:pPr>
            <a:r>
              <a:rPr lang="en-US" sz="12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Interface: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Dynamic QR code redirects users to their assigned slot.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2215"/>
            <a:ext cx="688800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Feasibility: A Practical Approach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630436" y="2439352"/>
            <a:ext cx="6571417" cy="2418159"/>
          </a:xfrm>
          <a:prstGeom prst="roundRect">
            <a:avLst>
              <a:gd name="adj" fmla="val 6754"/>
            </a:avLst>
          </a:prstGeom>
          <a:solidFill>
            <a:srgbClr val="D5D5D8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26661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Practicality: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7250" y="3247311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High. Uses standard Webcams, Laptops, and Free-tier Cloud (MongoDB).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26661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Cost &amp; Scalability: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247311"/>
            <a:ext cx="6244709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Scalable: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Adding slots is a code update, not construction.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Economical: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Drastically lower installation costs vs. traditional IoT.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1184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Challenges: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3790" y="5812958"/>
            <a:ext cx="13042821" cy="725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Issue: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Dynamic Network IPs.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Fix: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Automated Service Discovery via Cloud Registry.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2707" y="713542"/>
            <a:ext cx="4176236" cy="501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Applications &amp; Impact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702707" y="1482090"/>
            <a:ext cx="7738586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 Cases: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Multi-level car parks, automated tolls, gated communities.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02707" y="1984653"/>
            <a:ext cx="7738586" cy="1919645"/>
          </a:xfrm>
          <a:prstGeom prst="roundRect">
            <a:avLst>
              <a:gd name="adj" fmla="val 4393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66" y="2193012"/>
            <a:ext cx="602337" cy="602337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682" y="2358628"/>
            <a:ext cx="270986" cy="27098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1066" y="2972991"/>
            <a:ext cx="2509957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Developers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911066" y="3393281"/>
            <a:ext cx="7321868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Lower infrastructure overhead.</a:t>
            </a:r>
            <a:endParaRPr lang="en-US" sz="1550" dirty="0"/>
          </a:p>
        </p:txBody>
      </p:sp>
      <p:sp>
        <p:nvSpPr>
          <p:cNvPr id="10" name="Shape 5"/>
          <p:cNvSpPr/>
          <p:nvPr/>
        </p:nvSpPr>
        <p:spPr>
          <a:xfrm>
            <a:off x="702707" y="4081939"/>
            <a:ext cx="7738586" cy="1919645"/>
          </a:xfrm>
          <a:prstGeom prst="roundRect">
            <a:avLst>
              <a:gd name="adj" fmla="val 4393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066" y="4290298"/>
            <a:ext cx="602337" cy="602337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6682" y="4455914"/>
            <a:ext cx="270986" cy="27098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1066" y="5070277"/>
            <a:ext cx="2509957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Drivers</a:t>
            </a:r>
            <a:endParaRPr lang="en-US" sz="1950" dirty="0"/>
          </a:p>
        </p:txBody>
      </p:sp>
      <p:sp>
        <p:nvSpPr>
          <p:cNvPr id="14" name="Text 7"/>
          <p:cNvSpPr/>
          <p:nvPr/>
        </p:nvSpPr>
        <p:spPr>
          <a:xfrm>
            <a:off x="911066" y="5490567"/>
            <a:ext cx="7321868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Zero search time; guaranteed parking.</a:t>
            </a:r>
            <a:endParaRPr lang="en-US" sz="1550" dirty="0"/>
          </a:p>
        </p:txBody>
      </p:sp>
      <p:sp>
        <p:nvSpPr>
          <p:cNvPr id="15" name="Text 8"/>
          <p:cNvSpPr/>
          <p:nvPr/>
        </p:nvSpPr>
        <p:spPr>
          <a:xfrm>
            <a:off x="702707" y="6268164"/>
            <a:ext cx="2509957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Impact:</a:t>
            </a:r>
            <a:endParaRPr lang="en-US" sz="1950" dirty="0"/>
          </a:p>
        </p:txBody>
      </p:sp>
      <p:sp>
        <p:nvSpPr>
          <p:cNvPr id="16" name="Text 9"/>
          <p:cNvSpPr/>
          <p:nvPr/>
        </p:nvSpPr>
        <p:spPr>
          <a:xfrm>
            <a:off x="702707" y="6848475"/>
            <a:ext cx="7738586" cy="60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Tech: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Shifts industry from hardware-heavy to software-defined IoT.</a:t>
            </a:r>
            <a:endParaRPr lang="en-US" sz="155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Green: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Direct reduction in vehicle idling emissions.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52092"/>
            <a:ext cx="79986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Future Scope: Expanding Possibilities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35860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Improvements: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67188"/>
            <a:ext cx="6244709" cy="725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Mobile App: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Remote slot pre-booking.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Auto-Billing: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License plate-based payments (FastTag).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5860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Advanced Features: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167188"/>
            <a:ext cx="6244709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Indoor Guidance: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AR or LED indicators to guide cars to slots.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Violation Detection: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Automated overstay monitoring via exit cameras.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47361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Optislot: Redefining Smart Parking for a Sustainable Future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793790" y="4157424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Leveraging a revolutionary software-first approach, Optislot slashes hardware needs by 95%, delivering unmatched cost efficiency, effortless scalability, and profound environmental benefits. Gain a decisive competitive edge with a solution designed for tomorrow.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55012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Partner with us to transform your parking infrastructure.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611933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AFCBF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vrk1711@gmail.com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2026-01-29T17:31:31Z</dcterms:created>
  <dcterms:modified xsi:type="dcterms:W3CDTF">2026-01-29T17:31:31Z</dcterms:modified>
</cp:coreProperties>
</file>