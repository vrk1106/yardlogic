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Arimo Italics" charset="1" panose="020B06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https://tinyurl.com/Reshekumar" TargetMode="External" Type="http://schemas.openxmlformats.org/officeDocument/2006/relationships/hyperlink"/><Relationship Id="rId5" Target="https://vrk1711-portfolio.web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116484"/>
            <a:ext cx="9445523" cy="271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Optislot (Just Automated Real-time Intelligent Vehicle Parking System)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017741"/>
            <a:ext cx="9445523" cy="110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Smart Cities &amp; Intelligent Transportation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328620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By Reshekumar 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101183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Department of Computer Science and Engineering, KPR Institute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13127"/>
            <a:ext cx="9333309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Problem: The Parking Predicament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907927"/>
            <a:ext cx="5283546" cy="2201618"/>
            <a:chOff x="0" y="0"/>
            <a:chExt cx="7044728" cy="2935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4017" cy="2884678"/>
            </a:xfrm>
            <a:custGeom>
              <a:avLst/>
              <a:gdLst/>
              <a:ahLst/>
              <a:cxnLst/>
              <a:rect r="r" b="b" t="t" l="l"/>
              <a:pathLst>
                <a:path h="2884678" w="6994017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747637" y="0"/>
                  </a:lnTo>
                  <a:cubicBezTo>
                    <a:pt x="6883654" y="0"/>
                    <a:pt x="6994017" y="109220"/>
                    <a:pt x="6994017" y="243840"/>
                  </a:cubicBezTo>
                  <a:lnTo>
                    <a:pt x="6994017" y="2640838"/>
                  </a:lnTo>
                  <a:cubicBezTo>
                    <a:pt x="6994017" y="2775458"/>
                    <a:pt x="6883781" y="2884678"/>
                    <a:pt x="6747637" y="2884678"/>
                  </a:cubicBezTo>
                  <a:lnTo>
                    <a:pt x="246380" y="2884678"/>
                  </a:lnTo>
                  <a:cubicBezTo>
                    <a:pt x="110363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817" cy="2935478"/>
            </a:xfrm>
            <a:custGeom>
              <a:avLst/>
              <a:gdLst/>
              <a:ahLst/>
              <a:cxnLst/>
              <a:rect r="r" b="b" t="t" l="l"/>
              <a:pathLst>
                <a:path h="2935478" w="7044817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773037" y="0"/>
                  </a:lnTo>
                  <a:lnTo>
                    <a:pt x="6773037" y="25400"/>
                  </a:lnTo>
                  <a:lnTo>
                    <a:pt x="6773037" y="0"/>
                  </a:lnTo>
                  <a:cubicBezTo>
                    <a:pt x="6922897" y="0"/>
                    <a:pt x="7044817" y="120269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666238"/>
                  </a:lnTo>
                  <a:lnTo>
                    <a:pt x="7019417" y="2666238"/>
                  </a:lnTo>
                  <a:lnTo>
                    <a:pt x="7044817" y="2666238"/>
                  </a:lnTo>
                  <a:cubicBezTo>
                    <a:pt x="7044817" y="2815209"/>
                    <a:pt x="6922897" y="2935478"/>
                    <a:pt x="6773037" y="2935478"/>
                  </a:cubicBezTo>
                  <a:lnTo>
                    <a:pt x="6773037" y="2910078"/>
                  </a:lnTo>
                  <a:lnTo>
                    <a:pt x="6773037" y="2935478"/>
                  </a:lnTo>
                  <a:lnTo>
                    <a:pt x="271780" y="2935478"/>
                  </a:lnTo>
                  <a:lnTo>
                    <a:pt x="271780" y="2910078"/>
                  </a:lnTo>
                  <a:lnTo>
                    <a:pt x="271780" y="2935478"/>
                  </a:lnTo>
                  <a:cubicBezTo>
                    <a:pt x="121920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479" y="2884678"/>
                    <a:pt x="271780" y="2884678"/>
                  </a:cubicBezTo>
                  <a:lnTo>
                    <a:pt x="6773037" y="2884678"/>
                  </a:lnTo>
                  <a:cubicBezTo>
                    <a:pt x="6895338" y="2884678"/>
                    <a:pt x="6994017" y="2786634"/>
                    <a:pt x="6994017" y="2666238"/>
                  </a:cubicBezTo>
                  <a:lnTo>
                    <a:pt x="6994017" y="269240"/>
                  </a:lnTo>
                  <a:cubicBezTo>
                    <a:pt x="6994017" y="148844"/>
                    <a:pt x="6895338" y="50800"/>
                    <a:pt x="6773037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926977"/>
            <a:ext cx="152400" cy="2163518"/>
            <a:chOff x="0" y="0"/>
            <a:chExt cx="203200" cy="288469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" t="0" r="-3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421049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Inefficiency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756842"/>
            <a:ext cx="44879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High search time for parking causes congestion and fuel waste.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3907927"/>
            <a:ext cx="5283546" cy="2201618"/>
            <a:chOff x="0" y="0"/>
            <a:chExt cx="7044728" cy="29354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4017" cy="2884678"/>
            </a:xfrm>
            <a:custGeom>
              <a:avLst/>
              <a:gdLst/>
              <a:ahLst/>
              <a:cxnLst/>
              <a:rect r="r" b="b" t="t" l="l"/>
              <a:pathLst>
                <a:path h="2884678" w="6994017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747637" y="0"/>
                  </a:lnTo>
                  <a:cubicBezTo>
                    <a:pt x="6883654" y="0"/>
                    <a:pt x="6994017" y="109220"/>
                    <a:pt x="6994017" y="243840"/>
                  </a:cubicBezTo>
                  <a:lnTo>
                    <a:pt x="6994017" y="2640838"/>
                  </a:lnTo>
                  <a:cubicBezTo>
                    <a:pt x="6994017" y="2775458"/>
                    <a:pt x="6883781" y="2884678"/>
                    <a:pt x="6747637" y="2884678"/>
                  </a:cubicBezTo>
                  <a:lnTo>
                    <a:pt x="246380" y="2884678"/>
                  </a:lnTo>
                  <a:cubicBezTo>
                    <a:pt x="110363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817" cy="2935478"/>
            </a:xfrm>
            <a:custGeom>
              <a:avLst/>
              <a:gdLst/>
              <a:ahLst/>
              <a:cxnLst/>
              <a:rect r="r" b="b" t="t" l="l"/>
              <a:pathLst>
                <a:path h="2935478" w="7044817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773037" y="0"/>
                  </a:lnTo>
                  <a:lnTo>
                    <a:pt x="6773037" y="25400"/>
                  </a:lnTo>
                  <a:lnTo>
                    <a:pt x="6773037" y="0"/>
                  </a:lnTo>
                  <a:cubicBezTo>
                    <a:pt x="6922897" y="0"/>
                    <a:pt x="7044817" y="120269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666238"/>
                  </a:lnTo>
                  <a:lnTo>
                    <a:pt x="7019417" y="2666238"/>
                  </a:lnTo>
                  <a:lnTo>
                    <a:pt x="7044817" y="2666238"/>
                  </a:lnTo>
                  <a:cubicBezTo>
                    <a:pt x="7044817" y="2815209"/>
                    <a:pt x="6922897" y="2935478"/>
                    <a:pt x="6773037" y="2935478"/>
                  </a:cubicBezTo>
                  <a:lnTo>
                    <a:pt x="6773037" y="2910078"/>
                  </a:lnTo>
                  <a:lnTo>
                    <a:pt x="6773037" y="2935478"/>
                  </a:lnTo>
                  <a:lnTo>
                    <a:pt x="271780" y="2935478"/>
                  </a:lnTo>
                  <a:lnTo>
                    <a:pt x="271780" y="2910078"/>
                  </a:lnTo>
                  <a:lnTo>
                    <a:pt x="271780" y="2935478"/>
                  </a:lnTo>
                  <a:cubicBezTo>
                    <a:pt x="121920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479" y="2884678"/>
                    <a:pt x="271780" y="2884678"/>
                  </a:cubicBezTo>
                  <a:lnTo>
                    <a:pt x="6773037" y="2884678"/>
                  </a:lnTo>
                  <a:cubicBezTo>
                    <a:pt x="6895338" y="2884678"/>
                    <a:pt x="6994017" y="2786634"/>
                    <a:pt x="6994017" y="2666238"/>
                  </a:cubicBezTo>
                  <a:lnTo>
                    <a:pt x="6994017" y="269240"/>
                  </a:lnTo>
                  <a:cubicBezTo>
                    <a:pt x="6994017" y="148844"/>
                    <a:pt x="6895338" y="50800"/>
                    <a:pt x="6773037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3926977"/>
            <a:ext cx="152400" cy="2163518"/>
            <a:chOff x="0" y="0"/>
            <a:chExt cx="203200" cy="288469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" t="0" r="-3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421049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High CAPEX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4756842"/>
            <a:ext cx="44879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Traditional systems need physical sensors at </a:t>
            </a:r>
            <a:r>
              <a:rPr lang="en-US" sz="2187" i="true">
                <a:solidFill>
                  <a:srgbClr val="CFD0D8"/>
                </a:solidFill>
                <a:latin typeface="Arimo Italics"/>
                <a:ea typeface="Arimo Italics"/>
                <a:cs typeface="Arimo Italics"/>
                <a:sym typeface="Arimo Italics"/>
              </a:rPr>
              <a:t>every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slot (1:1 ratio).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3907927"/>
            <a:ext cx="5283546" cy="2201618"/>
            <a:chOff x="0" y="0"/>
            <a:chExt cx="7044728" cy="29354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4017" cy="2884678"/>
            </a:xfrm>
            <a:custGeom>
              <a:avLst/>
              <a:gdLst/>
              <a:ahLst/>
              <a:cxnLst/>
              <a:rect r="r" b="b" t="t" l="l"/>
              <a:pathLst>
                <a:path h="2884678" w="6994017">
                  <a:moveTo>
                    <a:pt x="0" y="243840"/>
                  </a:moveTo>
                  <a:cubicBezTo>
                    <a:pt x="0" y="109220"/>
                    <a:pt x="110236" y="0"/>
                    <a:pt x="246380" y="0"/>
                  </a:cubicBezTo>
                  <a:lnTo>
                    <a:pt x="6747637" y="0"/>
                  </a:lnTo>
                  <a:cubicBezTo>
                    <a:pt x="6883654" y="0"/>
                    <a:pt x="6994017" y="109220"/>
                    <a:pt x="6994017" y="243840"/>
                  </a:cubicBezTo>
                  <a:lnTo>
                    <a:pt x="6994017" y="2640838"/>
                  </a:lnTo>
                  <a:cubicBezTo>
                    <a:pt x="6994017" y="2775458"/>
                    <a:pt x="6883781" y="2884678"/>
                    <a:pt x="6747637" y="2884678"/>
                  </a:cubicBezTo>
                  <a:lnTo>
                    <a:pt x="246380" y="2884678"/>
                  </a:lnTo>
                  <a:cubicBezTo>
                    <a:pt x="110363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817" cy="2935478"/>
            </a:xfrm>
            <a:custGeom>
              <a:avLst/>
              <a:gdLst/>
              <a:ahLst/>
              <a:cxnLst/>
              <a:rect r="r" b="b" t="t" l="l"/>
              <a:pathLst>
                <a:path h="2935478" w="7044817">
                  <a:moveTo>
                    <a:pt x="0" y="269240"/>
                  </a:moveTo>
                  <a:cubicBezTo>
                    <a:pt x="0" y="120269"/>
                    <a:pt x="121920" y="0"/>
                    <a:pt x="271780" y="0"/>
                  </a:cubicBezTo>
                  <a:lnTo>
                    <a:pt x="6773037" y="0"/>
                  </a:lnTo>
                  <a:lnTo>
                    <a:pt x="6773037" y="25400"/>
                  </a:lnTo>
                  <a:lnTo>
                    <a:pt x="6773037" y="0"/>
                  </a:lnTo>
                  <a:cubicBezTo>
                    <a:pt x="6922897" y="0"/>
                    <a:pt x="7044817" y="120269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666238"/>
                  </a:lnTo>
                  <a:lnTo>
                    <a:pt x="7019417" y="2666238"/>
                  </a:lnTo>
                  <a:lnTo>
                    <a:pt x="7044817" y="2666238"/>
                  </a:lnTo>
                  <a:cubicBezTo>
                    <a:pt x="7044817" y="2815209"/>
                    <a:pt x="6922897" y="2935478"/>
                    <a:pt x="6773037" y="2935478"/>
                  </a:cubicBezTo>
                  <a:lnTo>
                    <a:pt x="6773037" y="2910078"/>
                  </a:lnTo>
                  <a:lnTo>
                    <a:pt x="6773037" y="2935478"/>
                  </a:lnTo>
                  <a:lnTo>
                    <a:pt x="271780" y="2935478"/>
                  </a:lnTo>
                  <a:lnTo>
                    <a:pt x="271780" y="2910078"/>
                  </a:lnTo>
                  <a:lnTo>
                    <a:pt x="271780" y="2935478"/>
                  </a:lnTo>
                  <a:cubicBezTo>
                    <a:pt x="121920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479" y="2884678"/>
                    <a:pt x="271780" y="2884678"/>
                  </a:cubicBezTo>
                  <a:lnTo>
                    <a:pt x="6773037" y="2884678"/>
                  </a:lnTo>
                  <a:cubicBezTo>
                    <a:pt x="6895338" y="2884678"/>
                    <a:pt x="6994017" y="2786634"/>
                    <a:pt x="6994017" y="2666238"/>
                  </a:cubicBezTo>
                  <a:lnTo>
                    <a:pt x="6994017" y="269240"/>
                  </a:lnTo>
                  <a:cubicBezTo>
                    <a:pt x="6994017" y="148844"/>
                    <a:pt x="6895338" y="50800"/>
                    <a:pt x="6773037" y="50800"/>
                  </a:cubicBezTo>
                  <a:lnTo>
                    <a:pt x="271780" y="50800"/>
                  </a:lnTo>
                  <a:lnTo>
                    <a:pt x="271780" y="25400"/>
                  </a:lnTo>
                  <a:lnTo>
                    <a:pt x="271780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3926977"/>
            <a:ext cx="152400" cy="2163518"/>
            <a:chOff x="0" y="0"/>
            <a:chExt cx="203200" cy="2884691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" t="0" r="-31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421049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Maintenance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4756842"/>
            <a:ext cx="44879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Decentralized hardware increases failure points.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6304655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Location: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Urban centers, malls, and corporate campuses.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238" y="7077227"/>
            <a:ext cx="16303523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Importance: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Critical to reduce infrastructure costs, traffic and carbon emission.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67616"/>
            <a:ext cx="9016898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Existing Scenario: The Status Quo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28505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Current Methods: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944818"/>
            <a:ext cx="7805890" cy="132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Slot-Sensors: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Ultrasonic/magnetic loops at the Entrance Gate.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Security guards directing traffic.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428505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Drawbacks: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944818"/>
            <a:ext cx="7805890" cy="146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Cost: 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Installing 100s of sensors is expensive.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Rigidity: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Hard to scale; requires physical cabling for every new spot.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624799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Insufficiency: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Relies on "Brute Force Hardware" instead of scalable software logic.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08554" y="1552727"/>
            <a:ext cx="9135961" cy="64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Solution: Optislot's Innovation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8554" y="2425008"/>
            <a:ext cx="9728892" cy="44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Core Idea:</a:t>
            </a: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Centralized </a:t>
            </a:r>
            <a:r>
              <a:rPr lang="en-US" sz="1874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Sensor Fusion</a:t>
            </a: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at the entry gate, removing slot-level sensors.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8554" y="3020320"/>
            <a:ext cx="242888" cy="38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08554" y="3490465"/>
            <a:ext cx="4760271" cy="28575"/>
            <a:chOff x="0" y="0"/>
            <a:chExt cx="6347028" cy="381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347079" cy="38100"/>
            </a:xfrm>
            <a:custGeom>
              <a:avLst/>
              <a:gdLst/>
              <a:ahLst/>
              <a:cxnLst/>
              <a:rect r="r" b="b" t="t" l="l"/>
              <a:pathLst>
                <a:path h="38100" w="6347079">
                  <a:moveTo>
                    <a:pt x="0" y="0"/>
                  </a:moveTo>
                  <a:lnTo>
                    <a:pt x="6347079" y="0"/>
                  </a:lnTo>
                  <a:lnTo>
                    <a:pt x="6347079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" t="0" r="-2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708554" y="3650009"/>
            <a:ext cx="3037732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Optical Profiling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08554" y="4087863"/>
            <a:ext cx="4760271" cy="7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Camera extracts the Registration Number from the Number plate.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77032" y="3020320"/>
            <a:ext cx="242888" cy="38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677032" y="3490465"/>
            <a:ext cx="4760414" cy="28575"/>
            <a:chOff x="0" y="0"/>
            <a:chExt cx="6347219" cy="381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6347206" cy="38100"/>
            </a:xfrm>
            <a:custGeom>
              <a:avLst/>
              <a:gdLst/>
              <a:ahLst/>
              <a:cxnLst/>
              <a:rect r="r" b="b" t="t" l="l"/>
              <a:pathLst>
                <a:path h="38100" w="6347206">
                  <a:moveTo>
                    <a:pt x="0" y="0"/>
                  </a:moveTo>
                  <a:lnTo>
                    <a:pt x="6347206" y="0"/>
                  </a:lnTo>
                  <a:lnTo>
                    <a:pt x="6347206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" t="0" r="-22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677032" y="3650009"/>
            <a:ext cx="3037732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Logic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77032" y="4087863"/>
            <a:ext cx="4760414" cy="80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"Bin-Packing Algorithm" allocates the optimal slot.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08554" y="5200355"/>
            <a:ext cx="242888" cy="38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708554" y="5646239"/>
            <a:ext cx="9728892" cy="28575"/>
            <a:chOff x="0" y="0"/>
            <a:chExt cx="12971856" cy="381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971907" cy="38100"/>
            </a:xfrm>
            <a:custGeom>
              <a:avLst/>
              <a:gdLst/>
              <a:ahLst/>
              <a:cxnLst/>
              <a:rect r="r" b="b" t="t" l="l"/>
              <a:pathLst>
                <a:path h="38100" w="12971907">
                  <a:moveTo>
                    <a:pt x="0" y="0"/>
                  </a:moveTo>
                  <a:lnTo>
                    <a:pt x="12971907" y="0"/>
                  </a:lnTo>
                  <a:lnTo>
                    <a:pt x="1297190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" r="0" b="-13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708554" y="5830043"/>
            <a:ext cx="3037732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Connectivity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08554" y="6267898"/>
            <a:ext cx="9728892" cy="44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Cloud Registry ensures access across changing networks.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08554" y="7190184"/>
            <a:ext cx="3037732" cy="3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Differentiation: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08554" y="7815558"/>
            <a:ext cx="9728892" cy="80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2812"/>
              </a:lnSpc>
              <a:buFont typeface="Arial"/>
              <a:buChar char="•"/>
            </a:pPr>
            <a:r>
              <a:rPr lang="en-US" sz="18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95% Hardware Reduction:</a:t>
            </a: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Replaces hundreds of sensors with one camera.</a:t>
            </a:r>
          </a:p>
          <a:p>
            <a:pPr algn="l" marL="282773" indent="-141387" lvl="1">
              <a:lnSpc>
                <a:spcPts val="2812"/>
              </a:lnSpc>
              <a:buFont typeface="Arial"/>
              <a:buChar char="•"/>
            </a:pPr>
            <a:r>
              <a:rPr lang="en-US" sz="18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Software-First:</a:t>
            </a:r>
            <a:r>
              <a:rPr lang="en-US" sz="1874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Infinite scalability without new wiring.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215601" y="552898"/>
            <a:ext cx="6580137" cy="54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Architecture: How it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63948" y="1377401"/>
            <a:ext cx="9359798" cy="6332039"/>
            <a:chOff x="0" y="0"/>
            <a:chExt cx="12479731" cy="844271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479782" cy="8442706"/>
            </a:xfrm>
            <a:custGeom>
              <a:avLst/>
              <a:gdLst/>
              <a:ahLst/>
              <a:cxnLst/>
              <a:rect r="r" b="b" t="t" l="l"/>
              <a:pathLst>
                <a:path h="8442706" w="12479782">
                  <a:moveTo>
                    <a:pt x="0" y="0"/>
                  </a:moveTo>
                  <a:lnTo>
                    <a:pt x="12479782" y="0"/>
                  </a:lnTo>
                  <a:lnTo>
                    <a:pt x="12479782" y="8442706"/>
                  </a:lnTo>
                  <a:lnTo>
                    <a:pt x="0" y="844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69500" y="3641903"/>
            <a:ext cx="1704318" cy="153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0"/>
              </a:lnSpc>
            </a:pPr>
            <a:r>
              <a:rPr lang="en-US" sz="24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Camera → Python → MongoDB → QR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27572" y="5684406"/>
            <a:ext cx="1973656" cy="73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1"/>
              </a:lnSpc>
            </a:pPr>
            <a:r>
              <a:rPr lang="en-US" sz="239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Local Python server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26004" y="6575536"/>
            <a:ext cx="2364010" cy="62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21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Runs allocation and 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66068" y="5684406"/>
            <a:ext cx="2412940" cy="73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1"/>
              </a:lnSpc>
            </a:pPr>
            <a:r>
              <a:rPr lang="en-US" sz="239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MongoDB cloud registry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30997" y="6575536"/>
            <a:ext cx="2470099" cy="93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21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Maps dynamic IPs to static endpoints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28473" y="1929355"/>
            <a:ext cx="1887922" cy="73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3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Dynamic QR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3681" y="2820486"/>
            <a:ext cx="2504951" cy="62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210" b="true">
                <a:solidFill>
                  <a:srgbClr val="141415"/>
                </a:solidFill>
                <a:latin typeface="Arimo Bold"/>
                <a:ea typeface="Arimo Bold"/>
                <a:cs typeface="Arimo Bold"/>
                <a:sym typeface="Arimo Bold"/>
              </a:rPr>
              <a:t>Outputs updated QR codes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0292" y="2124208"/>
            <a:ext cx="2000498" cy="37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1"/>
              </a:lnSpc>
            </a:pPr>
            <a:r>
              <a:rPr lang="en-US" sz="239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Camera input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55017" y="2625633"/>
            <a:ext cx="2338464" cy="93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210" b="true">
                <a:solidFill>
                  <a:srgbClr val="141415"/>
                </a:solidFill>
                <a:latin typeface="Arimo Bold"/>
                <a:ea typeface="Arimo Bold"/>
                <a:cs typeface="Arimo Bold"/>
                <a:sym typeface="Arimo Bold"/>
              </a:rPr>
              <a:t>Captures vehicle ID and dimensions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15601" y="7884614"/>
            <a:ext cx="1679972" cy="44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b="true" sz="273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Workflow: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15601" y="8402088"/>
            <a:ext cx="13856646" cy="148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131" indent="-163065" lvl="1">
              <a:lnSpc>
                <a:spcPts val="2940"/>
              </a:lnSpc>
              <a:buAutoNum type="arabicPeriod" startAt="1"/>
            </a:pPr>
            <a:r>
              <a:rPr lang="en-US" b="true" sz="216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Input:</a:t>
            </a:r>
            <a:r>
              <a:rPr lang="en-US" sz="2162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Camera captures vehicle identity and dimensions.</a:t>
            </a:r>
          </a:p>
          <a:p>
            <a:pPr algn="l" marL="326131" indent="-163065" lvl="1">
              <a:lnSpc>
                <a:spcPts val="2940"/>
              </a:lnSpc>
              <a:buAutoNum type="arabicPeriod" startAt="1"/>
            </a:pPr>
            <a:r>
              <a:rPr lang="en-US" b="true" sz="216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Processing:</a:t>
            </a:r>
            <a:r>
              <a:rPr lang="en-US" sz="2162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Local Python server runs allocation algorithms.</a:t>
            </a:r>
          </a:p>
          <a:p>
            <a:pPr algn="l" marL="326131" indent="-163065" lvl="1">
              <a:lnSpc>
                <a:spcPts val="2940"/>
              </a:lnSpc>
              <a:buAutoNum type="arabicPeriod" startAt="1"/>
            </a:pPr>
            <a:r>
              <a:rPr lang="en-US" b="true" sz="216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Cloud Registry:</a:t>
            </a:r>
            <a:r>
              <a:rPr lang="en-US" sz="2162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MongoDB maps dynamic local IPs to static endpoints.</a:t>
            </a:r>
          </a:p>
          <a:p>
            <a:pPr algn="l" marL="326131" indent="-163065" lvl="1">
              <a:lnSpc>
                <a:spcPts val="2940"/>
              </a:lnSpc>
              <a:buAutoNum type="arabicPeriod" startAt="1"/>
            </a:pPr>
            <a:r>
              <a:rPr lang="en-US" b="true" sz="216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Interface:</a:t>
            </a:r>
            <a:r>
              <a:rPr lang="en-US" sz="2162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Dynamic QR code redirects users to their assigned slot.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58118"/>
            <a:ext cx="9990280" cy="82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4"/>
              </a:lnSpc>
            </a:pPr>
            <a:r>
              <a:rPr lang="en-US" sz="50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Feasibility: A Practical Approach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3049191"/>
            <a:ext cx="8214274" cy="3022702"/>
            <a:chOff x="0" y="0"/>
            <a:chExt cx="10952366" cy="40302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3" cy="4030218"/>
            </a:xfrm>
            <a:custGeom>
              <a:avLst/>
              <a:gdLst/>
              <a:ahLst/>
              <a:cxnLst/>
              <a:rect r="r" b="b" t="t" l="l"/>
              <a:pathLst>
                <a:path h="4030218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758057"/>
                  </a:lnTo>
                  <a:cubicBezTo>
                    <a:pt x="10952353" y="3908425"/>
                    <a:pt x="10830433" y="4030218"/>
                    <a:pt x="10680192" y="4030218"/>
                  </a:cubicBezTo>
                  <a:lnTo>
                    <a:pt x="272161" y="4030218"/>
                  </a:lnTo>
                  <a:cubicBezTo>
                    <a:pt x="121920" y="4030218"/>
                    <a:pt x="0" y="3908425"/>
                    <a:pt x="0" y="3758057"/>
                  </a:cubicBezTo>
                  <a:close/>
                </a:path>
              </a:pathLst>
            </a:custGeom>
            <a:solidFill>
              <a:srgbClr val="D5D5D8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71562" y="3294612"/>
            <a:ext cx="2340003" cy="53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4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Practicality: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3935311"/>
            <a:ext cx="7647232" cy="104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High. Uses standard Webcams, Laptops, and Free-tier Cloud (MongoDB).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397" y="3294612"/>
            <a:ext cx="3623752" cy="53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49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Cost &amp; Scalability: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3935311"/>
            <a:ext cx="7805890" cy="211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226" indent="-195113" lvl="1">
              <a:lnSpc>
                <a:spcPts val="4213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Scalable:</a:t>
            </a:r>
            <a:r>
              <a:rPr lang="en-US" sz="25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Adding slots is a code update, not construction.</a:t>
            </a:r>
          </a:p>
          <a:p>
            <a:pPr algn="l" marL="390226" indent="-195113" lvl="1">
              <a:lnSpc>
                <a:spcPts val="4213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Economical:</a:t>
            </a:r>
            <a:r>
              <a:rPr lang="en-US" sz="25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Drastically lower installation costs vs. traditional IoT.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359985"/>
            <a:ext cx="2339408" cy="53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49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Challenges: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142369"/>
            <a:ext cx="16303523" cy="104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226" indent="-195113" lvl="1">
              <a:lnSpc>
                <a:spcPts val="4213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Issue:</a:t>
            </a:r>
            <a:r>
              <a:rPr lang="en-US" sz="25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Dynamic Network IPs.</a:t>
            </a:r>
          </a:p>
          <a:p>
            <a:pPr algn="l" marL="390226" indent="-195113" lvl="1">
              <a:lnSpc>
                <a:spcPts val="4213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Fix:</a:t>
            </a:r>
            <a:r>
              <a:rPr lang="en-US" sz="25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Automated Service Discovery via Cloud Registry.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8386" y="853831"/>
            <a:ext cx="5918172" cy="71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4"/>
              </a:lnSpc>
            </a:pPr>
            <a:r>
              <a:rPr lang="en-US" sz="44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Applications &amp;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8386" y="1776412"/>
            <a:ext cx="9673228" cy="39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13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Use Cases:</a:t>
            </a:r>
            <a:r>
              <a:rPr lang="en-US" sz="21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Multi-level car parks, automated tolls, gated communities.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3623" y="2476052"/>
            <a:ext cx="9682753" cy="2409082"/>
            <a:chOff x="0" y="0"/>
            <a:chExt cx="12910337" cy="32121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2897612" cy="3199384"/>
            </a:xfrm>
            <a:custGeom>
              <a:avLst/>
              <a:gdLst/>
              <a:ahLst/>
              <a:cxnLst/>
              <a:rect r="r" b="b" t="t" l="l"/>
              <a:pathLst>
                <a:path h="3199384" w="12897612">
                  <a:moveTo>
                    <a:pt x="0" y="140589"/>
                  </a:moveTo>
                  <a:cubicBezTo>
                    <a:pt x="0" y="62865"/>
                    <a:pt x="63119" y="0"/>
                    <a:pt x="140970" y="0"/>
                  </a:cubicBezTo>
                  <a:lnTo>
                    <a:pt x="12756642" y="0"/>
                  </a:lnTo>
                  <a:cubicBezTo>
                    <a:pt x="12834493" y="0"/>
                    <a:pt x="12897612" y="62865"/>
                    <a:pt x="12897612" y="140589"/>
                  </a:cubicBezTo>
                  <a:lnTo>
                    <a:pt x="12897612" y="3058795"/>
                  </a:lnTo>
                  <a:cubicBezTo>
                    <a:pt x="12897612" y="3136392"/>
                    <a:pt x="12834493" y="3199384"/>
                    <a:pt x="12756642" y="3199384"/>
                  </a:cubicBezTo>
                  <a:lnTo>
                    <a:pt x="140970" y="3199384"/>
                  </a:lnTo>
                  <a:cubicBezTo>
                    <a:pt x="63119" y="3199384"/>
                    <a:pt x="0" y="3136519"/>
                    <a:pt x="0" y="3058795"/>
                  </a:cubicBezTo>
                  <a:close/>
                </a:path>
              </a:pathLst>
            </a:custGeom>
            <a:solidFill>
              <a:srgbClr val="3D3D4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10312" cy="3212084"/>
            </a:xfrm>
            <a:custGeom>
              <a:avLst/>
              <a:gdLst/>
              <a:ahLst/>
              <a:cxnLst/>
              <a:rect r="r" b="b" t="t" l="l"/>
              <a:pathLst>
                <a:path h="3212084" w="12910312">
                  <a:moveTo>
                    <a:pt x="0" y="146939"/>
                  </a:moveTo>
                  <a:cubicBezTo>
                    <a:pt x="0" y="65786"/>
                    <a:pt x="65913" y="0"/>
                    <a:pt x="147320" y="0"/>
                  </a:cubicBezTo>
                  <a:lnTo>
                    <a:pt x="12762992" y="0"/>
                  </a:lnTo>
                  <a:lnTo>
                    <a:pt x="12762992" y="6350"/>
                  </a:lnTo>
                  <a:lnTo>
                    <a:pt x="12762992" y="0"/>
                  </a:lnTo>
                  <a:cubicBezTo>
                    <a:pt x="12844399" y="0"/>
                    <a:pt x="12910312" y="65786"/>
                    <a:pt x="12910312" y="146939"/>
                  </a:cubicBezTo>
                  <a:lnTo>
                    <a:pt x="12903962" y="146939"/>
                  </a:lnTo>
                  <a:lnTo>
                    <a:pt x="12910312" y="146939"/>
                  </a:lnTo>
                  <a:lnTo>
                    <a:pt x="12910312" y="3065145"/>
                  </a:lnTo>
                  <a:lnTo>
                    <a:pt x="12903962" y="3065145"/>
                  </a:lnTo>
                  <a:lnTo>
                    <a:pt x="12910312" y="3065145"/>
                  </a:lnTo>
                  <a:cubicBezTo>
                    <a:pt x="12910312" y="3146298"/>
                    <a:pt x="12844399" y="3212084"/>
                    <a:pt x="12762992" y="3212084"/>
                  </a:cubicBezTo>
                  <a:lnTo>
                    <a:pt x="12762992" y="3205734"/>
                  </a:lnTo>
                  <a:lnTo>
                    <a:pt x="12762992" y="3212084"/>
                  </a:lnTo>
                  <a:lnTo>
                    <a:pt x="147320" y="3212084"/>
                  </a:lnTo>
                  <a:lnTo>
                    <a:pt x="147320" y="3205734"/>
                  </a:lnTo>
                  <a:lnTo>
                    <a:pt x="147320" y="3212084"/>
                  </a:lnTo>
                  <a:cubicBezTo>
                    <a:pt x="65913" y="3212084"/>
                    <a:pt x="0" y="3146298"/>
                    <a:pt x="0" y="3065145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3065145"/>
                  </a:lnTo>
                  <a:lnTo>
                    <a:pt x="6350" y="3065145"/>
                  </a:lnTo>
                  <a:lnTo>
                    <a:pt x="12700" y="3065145"/>
                  </a:lnTo>
                  <a:cubicBezTo>
                    <a:pt x="12700" y="3139186"/>
                    <a:pt x="72898" y="3199384"/>
                    <a:pt x="147320" y="3199384"/>
                  </a:cubicBezTo>
                  <a:lnTo>
                    <a:pt x="12762992" y="3199384"/>
                  </a:lnTo>
                  <a:cubicBezTo>
                    <a:pt x="12837414" y="3199384"/>
                    <a:pt x="12897612" y="3139313"/>
                    <a:pt x="12897612" y="3065145"/>
                  </a:cubicBezTo>
                  <a:lnTo>
                    <a:pt x="12897612" y="146939"/>
                  </a:lnTo>
                  <a:cubicBezTo>
                    <a:pt x="12897612" y="72898"/>
                    <a:pt x="12837414" y="12700"/>
                    <a:pt x="12762992" y="12700"/>
                  </a:cubicBezTo>
                  <a:lnTo>
                    <a:pt x="147320" y="12700"/>
                  </a:lnTo>
                  <a:lnTo>
                    <a:pt x="147320" y="6350"/>
                  </a:lnTo>
                  <a:lnTo>
                    <a:pt x="147320" y="12700"/>
                  </a:lnTo>
                  <a:cubicBezTo>
                    <a:pt x="72898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38828" y="2741266"/>
            <a:ext cx="752923" cy="752923"/>
            <a:chOff x="0" y="0"/>
            <a:chExt cx="1003897" cy="100389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03935" cy="1003935"/>
            </a:xfrm>
            <a:custGeom>
              <a:avLst/>
              <a:gdLst/>
              <a:ahLst/>
              <a:cxnLst/>
              <a:rect r="r" b="b" t="t" l="l"/>
              <a:pathLst>
                <a:path h="1003935" w="1003935">
                  <a:moveTo>
                    <a:pt x="0" y="0"/>
                  </a:moveTo>
                  <a:lnTo>
                    <a:pt x="1003935" y="0"/>
                  </a:lnTo>
                  <a:lnTo>
                    <a:pt x="1003935" y="1003935"/>
                  </a:lnTo>
                  <a:lnTo>
                    <a:pt x="0" y="1003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345854" y="2948283"/>
            <a:ext cx="338728" cy="338728"/>
          </a:xfrm>
          <a:custGeom>
            <a:avLst/>
            <a:gdLst/>
            <a:ahLst/>
            <a:cxnLst/>
            <a:rect r="r" b="b" t="t" l="l"/>
            <a:pathLst>
              <a:path h="338728" w="338728">
                <a:moveTo>
                  <a:pt x="0" y="0"/>
                </a:moveTo>
                <a:lnTo>
                  <a:pt x="338728" y="0"/>
                </a:lnTo>
                <a:lnTo>
                  <a:pt x="338728" y="338728"/>
                </a:lnTo>
                <a:lnTo>
                  <a:pt x="0" y="338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167" t="0" r="-416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11144" y="2728029"/>
            <a:ext cx="3243943" cy="7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2"/>
              </a:lnSpc>
            </a:pPr>
            <a:r>
              <a:rPr lang="en-US" sz="473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Developers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8828" y="3751364"/>
            <a:ext cx="9152334" cy="44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4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Lower infrastructure overhead.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3623" y="5097666"/>
            <a:ext cx="9682753" cy="2409082"/>
            <a:chOff x="0" y="0"/>
            <a:chExt cx="12910337" cy="32121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2897612" cy="3199384"/>
            </a:xfrm>
            <a:custGeom>
              <a:avLst/>
              <a:gdLst/>
              <a:ahLst/>
              <a:cxnLst/>
              <a:rect r="r" b="b" t="t" l="l"/>
              <a:pathLst>
                <a:path h="3199384" w="12897612">
                  <a:moveTo>
                    <a:pt x="0" y="140589"/>
                  </a:moveTo>
                  <a:cubicBezTo>
                    <a:pt x="0" y="62865"/>
                    <a:pt x="63119" y="0"/>
                    <a:pt x="140970" y="0"/>
                  </a:cubicBezTo>
                  <a:lnTo>
                    <a:pt x="12756642" y="0"/>
                  </a:lnTo>
                  <a:cubicBezTo>
                    <a:pt x="12834493" y="0"/>
                    <a:pt x="12897612" y="62865"/>
                    <a:pt x="12897612" y="140589"/>
                  </a:cubicBezTo>
                  <a:lnTo>
                    <a:pt x="12897612" y="3058795"/>
                  </a:lnTo>
                  <a:cubicBezTo>
                    <a:pt x="12897612" y="3136392"/>
                    <a:pt x="12834493" y="3199384"/>
                    <a:pt x="12756642" y="3199384"/>
                  </a:cubicBezTo>
                  <a:lnTo>
                    <a:pt x="140970" y="3199384"/>
                  </a:lnTo>
                  <a:cubicBezTo>
                    <a:pt x="63119" y="3199384"/>
                    <a:pt x="0" y="3136519"/>
                    <a:pt x="0" y="3058795"/>
                  </a:cubicBezTo>
                  <a:close/>
                </a:path>
              </a:pathLst>
            </a:custGeom>
            <a:solidFill>
              <a:srgbClr val="3D3D4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10312" cy="3212084"/>
            </a:xfrm>
            <a:custGeom>
              <a:avLst/>
              <a:gdLst/>
              <a:ahLst/>
              <a:cxnLst/>
              <a:rect r="r" b="b" t="t" l="l"/>
              <a:pathLst>
                <a:path h="3212084" w="12910312">
                  <a:moveTo>
                    <a:pt x="0" y="146939"/>
                  </a:moveTo>
                  <a:cubicBezTo>
                    <a:pt x="0" y="65786"/>
                    <a:pt x="65913" y="0"/>
                    <a:pt x="147320" y="0"/>
                  </a:cubicBezTo>
                  <a:lnTo>
                    <a:pt x="12762992" y="0"/>
                  </a:lnTo>
                  <a:lnTo>
                    <a:pt x="12762992" y="6350"/>
                  </a:lnTo>
                  <a:lnTo>
                    <a:pt x="12762992" y="0"/>
                  </a:lnTo>
                  <a:cubicBezTo>
                    <a:pt x="12844399" y="0"/>
                    <a:pt x="12910312" y="65786"/>
                    <a:pt x="12910312" y="146939"/>
                  </a:cubicBezTo>
                  <a:lnTo>
                    <a:pt x="12903962" y="146939"/>
                  </a:lnTo>
                  <a:lnTo>
                    <a:pt x="12910312" y="146939"/>
                  </a:lnTo>
                  <a:lnTo>
                    <a:pt x="12910312" y="3065145"/>
                  </a:lnTo>
                  <a:lnTo>
                    <a:pt x="12903962" y="3065145"/>
                  </a:lnTo>
                  <a:lnTo>
                    <a:pt x="12910312" y="3065145"/>
                  </a:lnTo>
                  <a:cubicBezTo>
                    <a:pt x="12910312" y="3146298"/>
                    <a:pt x="12844399" y="3212084"/>
                    <a:pt x="12762992" y="3212084"/>
                  </a:cubicBezTo>
                  <a:lnTo>
                    <a:pt x="12762992" y="3205734"/>
                  </a:lnTo>
                  <a:lnTo>
                    <a:pt x="12762992" y="3212084"/>
                  </a:lnTo>
                  <a:lnTo>
                    <a:pt x="147320" y="3212084"/>
                  </a:lnTo>
                  <a:lnTo>
                    <a:pt x="147320" y="3205734"/>
                  </a:lnTo>
                  <a:lnTo>
                    <a:pt x="147320" y="3212084"/>
                  </a:lnTo>
                  <a:cubicBezTo>
                    <a:pt x="65913" y="3212084"/>
                    <a:pt x="0" y="3146298"/>
                    <a:pt x="0" y="3065145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3065145"/>
                  </a:lnTo>
                  <a:lnTo>
                    <a:pt x="6350" y="3065145"/>
                  </a:lnTo>
                  <a:lnTo>
                    <a:pt x="12700" y="3065145"/>
                  </a:lnTo>
                  <a:cubicBezTo>
                    <a:pt x="12700" y="3139186"/>
                    <a:pt x="72898" y="3199384"/>
                    <a:pt x="147320" y="3199384"/>
                  </a:cubicBezTo>
                  <a:lnTo>
                    <a:pt x="12762992" y="3199384"/>
                  </a:lnTo>
                  <a:cubicBezTo>
                    <a:pt x="12837414" y="3199384"/>
                    <a:pt x="12897612" y="3139313"/>
                    <a:pt x="12897612" y="3065145"/>
                  </a:cubicBezTo>
                  <a:lnTo>
                    <a:pt x="12897612" y="146939"/>
                  </a:lnTo>
                  <a:cubicBezTo>
                    <a:pt x="12897612" y="72898"/>
                    <a:pt x="12837414" y="12700"/>
                    <a:pt x="12762992" y="12700"/>
                  </a:cubicBezTo>
                  <a:lnTo>
                    <a:pt x="147320" y="12700"/>
                  </a:lnTo>
                  <a:lnTo>
                    <a:pt x="147320" y="6350"/>
                  </a:lnTo>
                  <a:lnTo>
                    <a:pt x="147320" y="12700"/>
                  </a:lnTo>
                  <a:cubicBezTo>
                    <a:pt x="72898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38828" y="5362870"/>
            <a:ext cx="752923" cy="752923"/>
            <a:chOff x="0" y="0"/>
            <a:chExt cx="1003897" cy="100389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03935" cy="1003935"/>
            </a:xfrm>
            <a:custGeom>
              <a:avLst/>
              <a:gdLst/>
              <a:ahLst/>
              <a:cxnLst/>
              <a:rect r="r" b="b" t="t" l="l"/>
              <a:pathLst>
                <a:path h="1003935" w="1003935">
                  <a:moveTo>
                    <a:pt x="0" y="0"/>
                  </a:moveTo>
                  <a:lnTo>
                    <a:pt x="1003935" y="0"/>
                  </a:lnTo>
                  <a:lnTo>
                    <a:pt x="1003935" y="1003935"/>
                  </a:lnTo>
                  <a:lnTo>
                    <a:pt x="0" y="1003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345854" y="5569896"/>
            <a:ext cx="338728" cy="338728"/>
          </a:xfrm>
          <a:custGeom>
            <a:avLst/>
            <a:gdLst/>
            <a:ahLst/>
            <a:cxnLst/>
            <a:rect r="r" b="b" t="t" l="l"/>
            <a:pathLst>
              <a:path h="338728" w="338728">
                <a:moveTo>
                  <a:pt x="0" y="0"/>
                </a:moveTo>
                <a:lnTo>
                  <a:pt x="338728" y="0"/>
                </a:lnTo>
                <a:lnTo>
                  <a:pt x="338728" y="338728"/>
                </a:lnTo>
                <a:lnTo>
                  <a:pt x="0" y="338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389" r="0" b="-1389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111144" y="5332448"/>
            <a:ext cx="2074919" cy="76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5"/>
              </a:lnSpc>
            </a:pPr>
            <a:r>
              <a:rPr lang="en-US" sz="47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Drivers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8833" y="6372968"/>
            <a:ext cx="9152334" cy="44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4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Zero search time; guaranteed parking.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8386" y="7806633"/>
            <a:ext cx="1326696" cy="47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9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Impact: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8386" y="8484394"/>
            <a:ext cx="9673228" cy="84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443" indent="-168721" lvl="1">
              <a:lnSpc>
                <a:spcPts val="3392"/>
              </a:lnSpc>
              <a:buFont typeface="Arial"/>
              <a:buChar char="•"/>
            </a:pPr>
            <a:r>
              <a:rPr lang="en-US" b="true" sz="223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Tech:</a:t>
            </a:r>
            <a:r>
              <a:rPr lang="en-US" sz="22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Shifts industry from hardware-heavy to software-defined IoT.</a:t>
            </a:r>
          </a:p>
          <a:p>
            <a:pPr algn="l" marL="337443" indent="-168721" lvl="1">
              <a:lnSpc>
                <a:spcPts val="3392"/>
              </a:lnSpc>
              <a:buFont typeface="Arial"/>
              <a:buChar char="•"/>
            </a:pPr>
            <a:r>
              <a:rPr lang="en-US" b="true" sz="223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Green:</a:t>
            </a:r>
            <a:r>
              <a:rPr lang="en-US" sz="22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Direct reduction in vehicle idling emissions.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40274" y="981075"/>
            <a:ext cx="11427449" cy="79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49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Future Scope: Expanding Possibilities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63580"/>
            <a:ext cx="3231782" cy="57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49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Improvements: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845" y="3981730"/>
            <a:ext cx="7805890" cy="478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440" indent="-195220" lvl="1">
              <a:lnSpc>
                <a:spcPts val="421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Dynam</a:t>
            </a:r>
            <a:r>
              <a:rPr lang="en-US" b="true" sz="258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ic Pricing: </a:t>
            </a:r>
            <a:r>
              <a:rPr lang="en-US" sz="258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Demand-based automated rate adjustment.</a:t>
            </a:r>
          </a:p>
          <a:p>
            <a:pPr algn="l" marL="390440" indent="-195220" lvl="1">
              <a:lnSpc>
                <a:spcPts val="4216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Find My Car - Reverse Routing:</a:t>
            </a:r>
            <a:r>
              <a:rPr lang="en-US" sz="258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Using the system's entry logs to guide forgetful drivers back to their parked vehicle's exact location via the web interface.</a:t>
            </a:r>
          </a:p>
          <a:p>
            <a:pPr algn="l" marL="390604" indent="-195302" lvl="1">
              <a:lnSpc>
                <a:spcPts val="4217"/>
              </a:lnSpc>
              <a:buFont typeface="Arial"/>
              <a:buChar char="•"/>
            </a:pPr>
            <a:r>
              <a:rPr lang="en-US" b="true" sz="258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Smart Energy Orchestration:</a:t>
            </a:r>
            <a:r>
              <a:rPr lang="en-US" sz="258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The system utilizes real-time occupancy data to automatically dim lights and deactivate ventilation in empty zones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3410" y="2967060"/>
            <a:ext cx="4309382" cy="57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49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Advanced Features: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3410" y="3953155"/>
            <a:ext cx="7805890" cy="4866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226" indent="-195113" lvl="1">
              <a:lnSpc>
                <a:spcPts val="4553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redictive Occupancy Modelling: </a:t>
            </a:r>
            <a:r>
              <a:rPr lang="en-US" sz="25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system logs entry timestamps to build a Predictive Model.</a:t>
            </a:r>
          </a:p>
          <a:p>
            <a:pPr algn="l" marL="390062" indent="-195031" lvl="1">
              <a:lnSpc>
                <a:spcPts val="4212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"Blacklist" Security Protocol (ANPR): </a:t>
            </a:r>
            <a:r>
              <a:rPr lang="en-US" sz="25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Integrates with law enforcement databases to identify stolen vehicles, instantly triggering silent alarms and exit lockdowns.</a:t>
            </a:r>
          </a:p>
          <a:p>
            <a:pPr algn="l" marL="390226" indent="-195113" lvl="1">
              <a:lnSpc>
                <a:spcPts val="4213"/>
              </a:lnSpc>
              <a:buFont typeface="Arial"/>
              <a:buChar char="•"/>
            </a:pPr>
            <a:r>
              <a:rPr lang="en-US" b="true" sz="25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Touchless Payment Integration: </a:t>
            </a:r>
            <a:r>
              <a:rPr lang="en-US" sz="25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RFID tag or Plate, calculates the fee, and auto-debits the user's wallet upon exit.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5777" y="952500"/>
            <a:ext cx="16303523" cy="252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Optislot: Redefining Smart Parking for a Sustainable Future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57293"/>
            <a:ext cx="16303523" cy="152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1"/>
              </a:lnSpc>
            </a:pPr>
            <a:r>
              <a:rPr lang="en-US" sz="24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Leveraging a revolutionary software-first approach, Optislot slashes hardware needs by 95%, delivering unmatched cost efficiency, effortless scalability, and profound environmental benefits. Gain a decisive competitive edge with a solution designed for tomorrow.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558902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Partner with us to transform your parking infrastructure.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3913" y="7796955"/>
            <a:ext cx="12840596" cy="188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32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Reshekumar V</a:t>
            </a:r>
            <a:r>
              <a:rPr lang="en-US" sz="23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- Project Lead and Developer</a:t>
            </a:r>
          </a:p>
          <a:p>
            <a:pPr algn="l">
              <a:lnSpc>
                <a:spcPts val="3781"/>
              </a:lnSpc>
            </a:pPr>
            <a:r>
              <a:rPr lang="en-US" sz="232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Email - </a:t>
            </a:r>
            <a:r>
              <a:rPr lang="en-US" sz="23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vrk1711@gmail.com</a:t>
            </a:r>
          </a:p>
          <a:p>
            <a:pPr algn="l">
              <a:lnSpc>
                <a:spcPts val="3781"/>
              </a:lnSpc>
            </a:pPr>
            <a:r>
              <a:rPr lang="en-US" sz="232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LinkedIn - </a:t>
            </a:r>
            <a:r>
              <a:rPr lang="en-US" sz="2322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4" tooltip="https://tinyurl.com/Reshekumar"/>
              </a:rPr>
              <a:t>Reshekumar V</a:t>
            </a:r>
          </a:p>
          <a:p>
            <a:pPr algn="l">
              <a:lnSpc>
                <a:spcPts val="3782"/>
              </a:lnSpc>
            </a:pPr>
            <a:r>
              <a:rPr lang="en-US" sz="23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 know more about myself, give a view to my portfolio </a:t>
            </a:r>
            <a:r>
              <a:rPr lang="en-US" sz="2322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5" tooltip="https://vrk1711-portfolio.web.app"/>
              </a:rPr>
              <a:t>Reshekumar 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DAG_0ZuyXSA</dc:identifier>
  <dcterms:modified xsi:type="dcterms:W3CDTF">2011-08-01T06:04:30Z</dcterms:modified>
  <cp:revision>1</cp:revision>
  <dc:title>Optislot-Just-Automated-Real-time-Intelligent-Vehicle-Parking-System.pptx</dc:title>
</cp:coreProperties>
</file>