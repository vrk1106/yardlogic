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Spline Sans"/>
      <p:regular r:id="rId13"/>
    </p:embeddedFont>
    <p:embeddedFont>
      <p:font typeface="Spline Sans"/>
      <p:regular r:id="rId14"/>
    </p:embeddedFont>
    <p:embeddedFont>
      <p:font typeface="Barlow"/>
      <p:regular r:id="rId15"/>
    </p:embeddedFont>
    <p:embeddedFont>
      <p:font typeface="Barlow"/>
      <p:regular r:id="rId16"/>
    </p:embeddedFont>
    <p:embeddedFont>
      <p:font typeface="Barlow"/>
      <p:regular r:id="rId17"/>
    </p:embeddedFont>
    <p:embeddedFont>
      <p:font typeface="Barlow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406610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OptiSlot: Intelligent Infrastructure for Smart Cities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4834295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Moving Intelligence from the Slot to the Gate.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5506998"/>
            <a:ext cx="7415927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Presented by: [Your Name] | [Your Team Name] | [Event/Expo Name]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03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1198" y="3419713"/>
            <a:ext cx="8680371" cy="622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Flaw in Traditional Smart Parking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1011198" y="4379000"/>
            <a:ext cx="4053126" cy="1673066"/>
          </a:xfrm>
          <a:prstGeom prst="roundRect">
            <a:avLst>
              <a:gd name="adj" fmla="val 8745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80718" y="4379000"/>
            <a:ext cx="121920" cy="1673066"/>
          </a:xfrm>
          <a:prstGeom prst="roundRect">
            <a:avLst>
              <a:gd name="adj" fmla="val 275904"/>
            </a:avLst>
          </a:prstGeom>
          <a:solidFill>
            <a:srgbClr val="16FFBB"/>
          </a:solidFill>
          <a:ln/>
        </p:spPr>
      </p:sp>
      <p:sp>
        <p:nvSpPr>
          <p:cNvPr id="6" name="Text 3"/>
          <p:cNvSpPr/>
          <p:nvPr/>
        </p:nvSpPr>
        <p:spPr>
          <a:xfrm>
            <a:off x="1357313" y="4633674"/>
            <a:ext cx="2491621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High Cost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57313" y="5079683"/>
            <a:ext cx="3452336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 sensor per spot (500 spots = 500 sensors).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88518" y="4379000"/>
            <a:ext cx="4053245" cy="1673066"/>
          </a:xfrm>
          <a:prstGeom prst="roundRect">
            <a:avLst>
              <a:gd name="adj" fmla="val 8745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58038" y="4379000"/>
            <a:ext cx="121920" cy="1673066"/>
          </a:xfrm>
          <a:prstGeom prst="roundRect">
            <a:avLst>
              <a:gd name="adj" fmla="val 275904"/>
            </a:avLst>
          </a:prstGeom>
          <a:solidFill>
            <a:srgbClr val="29DDDA"/>
          </a:solidFill>
          <a:ln/>
        </p:spPr>
      </p:sp>
      <p:sp>
        <p:nvSpPr>
          <p:cNvPr id="10" name="Text 7"/>
          <p:cNvSpPr/>
          <p:nvPr/>
        </p:nvSpPr>
        <p:spPr>
          <a:xfrm>
            <a:off x="5634633" y="4633674"/>
            <a:ext cx="2491621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High Maintenance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634633" y="5079683"/>
            <a:ext cx="3452455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Batteries die, sensors break, networking fails.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565958" y="4379000"/>
            <a:ext cx="4053245" cy="1673066"/>
          </a:xfrm>
          <a:prstGeom prst="roundRect">
            <a:avLst>
              <a:gd name="adj" fmla="val 8745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35478" y="4379000"/>
            <a:ext cx="121920" cy="1673066"/>
          </a:xfrm>
          <a:prstGeom prst="roundRect">
            <a:avLst>
              <a:gd name="adj" fmla="val 275904"/>
            </a:avLst>
          </a:prstGeom>
          <a:solidFill>
            <a:srgbClr val="37A7E7"/>
          </a:solidFill>
          <a:ln/>
        </p:spPr>
      </p:sp>
      <p:sp>
        <p:nvSpPr>
          <p:cNvPr id="14" name="Text 11"/>
          <p:cNvSpPr/>
          <p:nvPr/>
        </p:nvSpPr>
        <p:spPr>
          <a:xfrm>
            <a:off x="9912072" y="4633674"/>
            <a:ext cx="2491621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Inefficiency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912072" y="5079683"/>
            <a:ext cx="3452455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Small car in large spot 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76F5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wastes space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1011198" y="6304240"/>
            <a:ext cx="12608004" cy="1311712"/>
          </a:xfrm>
          <a:prstGeom prst="roundRect">
            <a:avLst>
              <a:gd name="adj" fmla="val 25645"/>
            </a:avLst>
          </a:prstGeom>
          <a:solidFill>
            <a:srgbClr val="004D3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392" y="6654879"/>
            <a:ext cx="280273" cy="22419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739860" y="6584394"/>
            <a:ext cx="11655147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smart cities fail because they try to hardware-force the solution. Installing thousands of sensors is expensive and hard to maintain. We asked: Can we do it with zero slot sensors?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5807" y="363736"/>
            <a:ext cx="6551771" cy="367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"Sensor-Less" Architecture: The Paradigm Shift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5807" y="1078349"/>
            <a:ext cx="3557945" cy="35579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95807" y="4785122"/>
            <a:ext cx="2129790" cy="18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Old Way: Distributed Hardware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595807" y="5101114"/>
            <a:ext cx="3557945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Messy, unreliable, costly.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031" y="1078349"/>
            <a:ext cx="3557945" cy="35579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4031" y="4785122"/>
            <a:ext cx="2606516" cy="18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OptiSlot Way: Centralized Intelligence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484031" y="5101114"/>
            <a:ext cx="3557945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Clean, efficient, zero maintenance.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595807" y="5778937"/>
            <a:ext cx="2391370" cy="1164431"/>
          </a:xfrm>
          <a:prstGeom prst="roundRect">
            <a:avLst>
              <a:gd name="adj" fmla="val 6282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3595807" y="5763697"/>
            <a:ext cx="2391370" cy="60960"/>
          </a:xfrm>
          <a:prstGeom prst="roundRect">
            <a:avLst>
              <a:gd name="adj" fmla="val 325566"/>
            </a:avLst>
          </a:prstGeom>
          <a:solidFill>
            <a:srgbClr val="16FFBB"/>
          </a:solidFill>
          <a:ln/>
        </p:spPr>
      </p:sp>
      <p:sp>
        <p:nvSpPr>
          <p:cNvPr id="11" name="Shape 7"/>
          <p:cNvSpPr/>
          <p:nvPr/>
        </p:nvSpPr>
        <p:spPr>
          <a:xfrm>
            <a:off x="4593015" y="5580578"/>
            <a:ext cx="396835" cy="396835"/>
          </a:xfrm>
          <a:prstGeom prst="roundRect">
            <a:avLst>
              <a:gd name="adj" fmla="val 230423"/>
            </a:avLst>
          </a:prstGeom>
          <a:solidFill>
            <a:srgbClr val="16FFBB"/>
          </a:solidFill>
          <a:ln/>
        </p:spPr>
      </p:sp>
      <p:sp>
        <p:nvSpPr>
          <p:cNvPr id="12" name="Text 8"/>
          <p:cNvSpPr/>
          <p:nvPr/>
        </p:nvSpPr>
        <p:spPr>
          <a:xfrm>
            <a:off x="4712077" y="567975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743325" y="6109692"/>
            <a:ext cx="1470065" cy="18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Shift Logic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743325" y="6372701"/>
            <a:ext cx="2096333" cy="42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Intelligence moves from </a:t>
            </a:r>
            <a:pPr algn="l" indent="0" marL="0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Parking Slot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</a:t>
            </a:r>
            <a:pPr algn="l" indent="0" marL="0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Entry Gate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19455" y="5778937"/>
            <a:ext cx="2391370" cy="1164431"/>
          </a:xfrm>
          <a:prstGeom prst="roundRect">
            <a:avLst>
              <a:gd name="adj" fmla="val 6282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119455" y="5763697"/>
            <a:ext cx="2391370" cy="60960"/>
          </a:xfrm>
          <a:prstGeom prst="roundRect">
            <a:avLst>
              <a:gd name="adj" fmla="val 325566"/>
            </a:avLst>
          </a:prstGeom>
          <a:solidFill>
            <a:srgbClr val="29DDDA"/>
          </a:solidFill>
          <a:ln/>
        </p:spPr>
      </p:sp>
      <p:sp>
        <p:nvSpPr>
          <p:cNvPr id="17" name="Shape 13"/>
          <p:cNvSpPr/>
          <p:nvPr/>
        </p:nvSpPr>
        <p:spPr>
          <a:xfrm>
            <a:off x="7116663" y="5580578"/>
            <a:ext cx="396835" cy="396835"/>
          </a:xfrm>
          <a:prstGeom prst="roundRect">
            <a:avLst>
              <a:gd name="adj" fmla="val 230423"/>
            </a:avLst>
          </a:prstGeom>
          <a:solidFill>
            <a:srgbClr val="16FFBB"/>
          </a:solidFill>
          <a:ln/>
        </p:spPr>
      </p:sp>
      <p:sp>
        <p:nvSpPr>
          <p:cNvPr id="18" name="Text 14"/>
          <p:cNvSpPr/>
          <p:nvPr/>
        </p:nvSpPr>
        <p:spPr>
          <a:xfrm>
            <a:off x="7235726" y="567975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266974" y="6109692"/>
            <a:ext cx="1470065" cy="18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One Node Control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266974" y="6372701"/>
            <a:ext cx="2096333" cy="42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Cameras + 2 Ultrasonic Sensors manage the entire lot.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643104" y="5778937"/>
            <a:ext cx="2391370" cy="1164431"/>
          </a:xfrm>
          <a:prstGeom prst="roundRect">
            <a:avLst>
              <a:gd name="adj" fmla="val 6282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8643104" y="5763697"/>
            <a:ext cx="2391370" cy="60960"/>
          </a:xfrm>
          <a:prstGeom prst="roundRect">
            <a:avLst>
              <a:gd name="adj" fmla="val 325566"/>
            </a:avLst>
          </a:prstGeom>
          <a:solidFill>
            <a:srgbClr val="37A7E7"/>
          </a:solidFill>
          <a:ln/>
        </p:spPr>
      </p:sp>
      <p:sp>
        <p:nvSpPr>
          <p:cNvPr id="23" name="Shape 19"/>
          <p:cNvSpPr/>
          <p:nvPr/>
        </p:nvSpPr>
        <p:spPr>
          <a:xfrm>
            <a:off x="9640312" y="5580578"/>
            <a:ext cx="396835" cy="396835"/>
          </a:xfrm>
          <a:prstGeom prst="roundRect">
            <a:avLst>
              <a:gd name="adj" fmla="val 230423"/>
            </a:avLst>
          </a:prstGeom>
          <a:solidFill>
            <a:srgbClr val="16FFBB"/>
          </a:solidFill>
          <a:ln/>
        </p:spPr>
      </p:sp>
      <p:sp>
        <p:nvSpPr>
          <p:cNvPr id="24" name="Text 20"/>
          <p:cNvSpPr/>
          <p:nvPr/>
        </p:nvSpPr>
        <p:spPr>
          <a:xfrm>
            <a:off x="9759375" y="567975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8790623" y="6109692"/>
            <a:ext cx="1470065" cy="18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Zero Maintenance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8790623" y="6372701"/>
            <a:ext cx="2096333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hardware at actual parking spots.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595807" y="7092196"/>
            <a:ext cx="7438668" cy="773549"/>
          </a:xfrm>
          <a:prstGeom prst="roundRect">
            <a:avLst>
              <a:gd name="adj" fmla="val 25656"/>
            </a:avLst>
          </a:prstGeom>
          <a:solidFill>
            <a:srgbClr val="004D36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085" y="7294007"/>
            <a:ext cx="165378" cy="13227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025741" y="7257455"/>
            <a:ext cx="6876455" cy="42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replaced distributed hardware with centralized software. By profiling the car at the entry, we know exactly where it should go before it even enters.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9017" y="460296"/>
            <a:ext cx="7360206" cy="465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Algorithmic Space Optimization: The Brain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609017" y="1327071"/>
            <a:ext cx="4501872" cy="53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Parking lots are like a game of Tetris. We don't just find </a:t>
            </a:r>
            <a:pPr algn="l" indent="0" marL="0">
              <a:lnSpc>
                <a:spcPts val="2100"/>
              </a:lnSpc>
              <a:buNone/>
            </a:pPr>
            <a:r>
              <a:rPr lang="en-US" sz="13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spot; we find the </a:t>
            </a:r>
            <a:pPr algn="l" indent="0" marL="0">
              <a:lnSpc>
                <a:spcPts val="2100"/>
              </a:lnSpc>
              <a:buNone/>
            </a:pPr>
            <a:r>
              <a:rPr lang="en-US" sz="13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best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spot.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609017" y="2050852"/>
            <a:ext cx="167402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9017" y="2312432"/>
            <a:ext cx="4501872" cy="2286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6" name="Text 4"/>
          <p:cNvSpPr/>
          <p:nvPr/>
        </p:nvSpPr>
        <p:spPr>
          <a:xfrm>
            <a:off x="2609017" y="2441853"/>
            <a:ext cx="2178844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Scan Vehicle Dimensions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609017" y="2841665"/>
            <a:ext cx="4501872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Small / Medium / Large.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9017" y="3402330"/>
            <a:ext cx="167402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9017" y="3663910"/>
            <a:ext cx="4501872" cy="2286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0" name="Text 8"/>
          <p:cNvSpPr/>
          <p:nvPr/>
        </p:nvSpPr>
        <p:spPr>
          <a:xfrm>
            <a:off x="2609017" y="3793331"/>
            <a:ext cx="1860113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Check Grid State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609017" y="4193143"/>
            <a:ext cx="4501872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database query.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9017" y="4753808"/>
            <a:ext cx="167402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9017" y="5015389"/>
            <a:ext cx="4501872" cy="2286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4" name="Text 12"/>
          <p:cNvSpPr/>
          <p:nvPr/>
        </p:nvSpPr>
        <p:spPr>
          <a:xfrm>
            <a:off x="2609017" y="5144810"/>
            <a:ext cx="1860113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Assign Optimal Slot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09017" y="5544622"/>
            <a:ext cx="4501872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Smallest viable slot to maximize revenue per sq. ft.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6893" y="1364694"/>
            <a:ext cx="4501872" cy="450187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26893" y="6054804"/>
            <a:ext cx="1976676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Bin-Packing Algorithm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26893" y="6454616"/>
            <a:ext cx="4501872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Utilizing a Best-Fit Heuristic.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609017" y="7061240"/>
            <a:ext cx="9412248" cy="711279"/>
          </a:xfrm>
          <a:prstGeom prst="roundRect">
            <a:avLst>
              <a:gd name="adj" fmla="val 35305"/>
            </a:avLst>
          </a:prstGeom>
          <a:solidFill>
            <a:srgbClr val="004D3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418" y="7321987"/>
            <a:ext cx="209193" cy="16740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153013" y="7270433"/>
            <a:ext cx="8700849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treat cars like items in a shipping container, ensuring a Mini Cooper doesn't waste a spot meant for a Cybertruck.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7476" y="603766"/>
            <a:ext cx="7629049" cy="1202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Cloud-Native &amp; Scalable: System Architecture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57476" y="1892379"/>
            <a:ext cx="3847505" cy="48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Technologies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57476" y="2697956"/>
            <a:ext cx="3706297" cy="1601272"/>
          </a:xfrm>
          <a:prstGeom prst="roundRect">
            <a:avLst>
              <a:gd name="adj" fmla="val 32438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6672" y="2937153"/>
            <a:ext cx="2404705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Compute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96672" y="3367564"/>
            <a:ext cx="3227903" cy="692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Docker Containers on Kubernetes (Auto-scaling).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80109" y="2697956"/>
            <a:ext cx="3706416" cy="1601272"/>
          </a:xfrm>
          <a:prstGeom prst="roundRect">
            <a:avLst>
              <a:gd name="adj" fmla="val 32438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305" y="2937153"/>
            <a:ext cx="2404705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Vision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919305" y="3367564"/>
            <a:ext cx="3228022" cy="692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OpenCV &amp; EasyOCR (License Plate Recognition).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7476" y="4515564"/>
            <a:ext cx="7629049" cy="1255038"/>
          </a:xfrm>
          <a:prstGeom prst="roundRect">
            <a:avLst>
              <a:gd name="adj" fmla="val 41387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6672" y="4754761"/>
            <a:ext cx="2404705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Connectivity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96672" y="5185172"/>
            <a:ext cx="7150656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Secure Tunnels (No Static IP needed).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57476" y="6013966"/>
            <a:ext cx="7629049" cy="1611868"/>
          </a:xfrm>
          <a:prstGeom prst="roundRect">
            <a:avLst>
              <a:gd name="adj" fmla="val 20141"/>
            </a:avLst>
          </a:prstGeom>
          <a:solidFill>
            <a:srgbClr val="004D3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12" y="6346508"/>
            <a:ext cx="270510" cy="2163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0659" y="6284357"/>
            <a:ext cx="6709529" cy="1038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isn't just a script; it's a distributed system. We use Kubernetes to ensure that even if the gate traffic spikes, our backend scales automatically.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8518" y="580311"/>
            <a:ext cx="7514273" cy="38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This Makes Money: Business Impact &amp; Viability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3770948" y="2159556"/>
            <a:ext cx="172247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95%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995" y="1284327"/>
            <a:ext cx="2100620" cy="21006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54410" y="3559969"/>
            <a:ext cx="1555909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CapEx Reduction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378518" y="3838337"/>
            <a:ext cx="2507694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need to purchase hundreds of sensors.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53783" y="2159556"/>
            <a:ext cx="172247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20%</a:t>
            </a:r>
            <a:endParaRPr lang="en-US" sz="2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831" y="1284327"/>
            <a:ext cx="2100620" cy="21006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127" y="3559969"/>
            <a:ext cx="1555909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Revenue Increase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061234" y="3838337"/>
            <a:ext cx="2507813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Optimized packing = more cars per floor.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136499" y="2159556"/>
            <a:ext cx="172247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$95,000</a:t>
            </a:r>
            <a:endParaRPr lang="en-US" sz="2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547" y="1284327"/>
            <a:ext cx="2100620" cy="21006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19962" y="3559969"/>
            <a:ext cx="1555909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Installation Savings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744069" y="3838337"/>
            <a:ext cx="2507694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Difference between traditional and OptiSlot systems.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378518" y="4496276"/>
            <a:ext cx="2489597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Road Ahead</a:t>
            </a:r>
            <a:endParaRPr lang="en-US" sz="1950" dirty="0"/>
          </a:p>
        </p:txBody>
      </p:sp>
      <p:sp>
        <p:nvSpPr>
          <p:cNvPr id="16" name="Shape 11"/>
          <p:cNvSpPr/>
          <p:nvPr/>
        </p:nvSpPr>
        <p:spPr>
          <a:xfrm>
            <a:off x="3378518" y="5017413"/>
            <a:ext cx="2531031" cy="420053"/>
          </a:xfrm>
          <a:prstGeom prst="roundRect">
            <a:avLst>
              <a:gd name="adj" fmla="val 480082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39020" y="5096113"/>
            <a:ext cx="21002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3518535" y="5577483"/>
            <a:ext cx="1555909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Dynamic Pricing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518535" y="5855851"/>
            <a:ext cx="225099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Charge more for "Premium" spots.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049566" y="5017413"/>
            <a:ext cx="2531150" cy="420053"/>
          </a:xfrm>
          <a:prstGeom prst="roundRect">
            <a:avLst>
              <a:gd name="adj" fmla="val 480082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210068" y="5096113"/>
            <a:ext cx="21002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6189583" y="5577483"/>
            <a:ext cx="1555909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Predictive AI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89583" y="5855851"/>
            <a:ext cx="2251115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Anticipate fullness, guide drivers.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720733" y="5017413"/>
            <a:ext cx="2531031" cy="420053"/>
          </a:xfrm>
          <a:prstGeom prst="roundRect">
            <a:avLst>
              <a:gd name="adj" fmla="val 480082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881235" y="5096113"/>
            <a:ext cx="21002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8860750" y="5577483"/>
            <a:ext cx="1555909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Multi-Floor Routing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860750" y="5855851"/>
            <a:ext cx="2250996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A* Pathfinding for efficient navigation.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378518" y="6653808"/>
            <a:ext cx="2489597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OptiSlot</a:t>
            </a:r>
            <a:endParaRPr lang="en-US" sz="1950" dirty="0"/>
          </a:p>
        </p:txBody>
      </p:sp>
      <p:sp>
        <p:nvSpPr>
          <p:cNvPr id="29" name="Text 24"/>
          <p:cNvSpPr/>
          <p:nvPr/>
        </p:nvSpPr>
        <p:spPr>
          <a:xfrm>
            <a:off x="3378518" y="7020878"/>
            <a:ext cx="2967157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Frugal Engineering. Maximum Efficiency.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3378518" y="7425333"/>
            <a:ext cx="7873365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Let's reimagine infrastructure.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2026-01-25T04:19:31Z</dcterms:created>
  <dcterms:modified xsi:type="dcterms:W3CDTF">2026-01-25T04:19:31Z</dcterms:modified>
</cp:coreProperties>
</file>